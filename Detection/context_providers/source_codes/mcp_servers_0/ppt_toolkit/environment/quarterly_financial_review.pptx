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Financial Review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Summary &amp; Strategic Overview</a:t>
            </a:r>
          </a:p>
          <a:p/>
          <a:p>
            <a:r>
              <a:t>Q2-Q3 Performance Analysis</a:t>
            </a:r>
          </a:p>
          <a:p>
            <a:r>
              <a:t>Comprehensive Financial Metrics</a:t>
            </a:r>
          </a:p>
          <a:p>
            <a:r>
              <a:t>Trend Analysis &amp; Forecasting</a:t>
            </a:r>
          </a:p>
          <a:p>
            <a:r>
              <a:t>Stakeholder Insights</a:t>
            </a:r>
          </a:p>
          <a:p/>
          <a:p>
            <a:r>
              <a:t>Generated: October 17,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Dashboard - 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Health Status: FAIR</a:t>
            </a:r>
          </a:p>
          <a:p/>
          <a:p>
            <a:r>
              <a:t>Key Performance Indicators (90-Day Period):</a:t>
            </a:r>
          </a:p>
          <a:p>
            <a:r>
              <a:t>━━━━━━━━━━━━━━━━━━━━━━━━━━━━━━━━━━━━━</a:t>
            </a:r>
          </a:p>
          <a:p>
            <a:r>
              <a:t>• Total Revenue: $3,484,958</a:t>
            </a:r>
          </a:p>
          <a:p>
            <a:r>
              <a:t>  - Target: $4,067,010</a:t>
            </a:r>
          </a:p>
          <a:p>
            <a:r>
              <a:t>  - Status: Below Target (Stable Trend)</a:t>
            </a:r>
          </a:p>
          <a:p/>
          <a:p>
            <a:r>
              <a:t>• Customer Acquisition Cost: 7,156</a:t>
            </a:r>
          </a:p>
          <a:p>
            <a:r>
              <a:t>  - Target: 9,724</a:t>
            </a:r>
          </a:p>
          <a:p>
            <a:r>
              <a:t>  - Status: Below Target (Increasing Trend)</a:t>
            </a:r>
          </a:p>
          <a:p/>
          <a:p>
            <a:r>
              <a:t>• Employee Satisfaction: 4,965</a:t>
            </a:r>
          </a:p>
          <a:p>
            <a:r>
              <a:t>  - Target: 6,759</a:t>
            </a:r>
          </a:p>
          <a:p>
            <a:r>
              <a:t>  - Status: Below Target (Decreasing Trend)</a:t>
            </a:r>
          </a:p>
          <a:p/>
          <a:p>
            <a:r>
              <a:t>• Market Share: 3,952</a:t>
            </a:r>
          </a:p>
          <a:p>
            <a:r>
              <a:t>  - Target: 5,882</a:t>
            </a:r>
          </a:p>
          <a:p>
            <a:r>
              <a:t>  - Status: Below Target (Decreasing Trend)</a:t>
            </a:r>
          </a:p>
          <a:p/>
          <a:p>
            <a:r>
              <a:t>⚠️ Alert: Customer satisfaction below threshold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 vs Q3 Performance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Performance Analysis:</a:t>
            </a:r>
          </a:p>
          <a:p/>
          <a:p>
            <a:r>
              <a:t>Q2 2025 Results:</a:t>
            </a:r>
          </a:p>
          <a:p>
            <a:r>
              <a:t>━━━━━━━━━━━━━━━━━━━━━━━━━━━━━━━━━━━━━</a:t>
            </a:r>
          </a:p>
          <a:p>
            <a:r>
              <a:t>• Revenue: $780,000</a:t>
            </a:r>
          </a:p>
          <a:p>
            <a:r>
              <a:t>• Expenses: $580,000</a:t>
            </a:r>
          </a:p>
          <a:p>
            <a:r>
              <a:t>• Profit: $200,000</a:t>
            </a:r>
          </a:p>
          <a:p>
            <a:r>
              <a:t>• Profit Margin: 25.6%</a:t>
            </a:r>
          </a:p>
          <a:p/>
          <a:p>
            <a:r>
              <a:t>Q3 2025 Results:</a:t>
            </a:r>
          </a:p>
          <a:p>
            <a:r>
              <a:t>━━━━━━━━━━━━━━━━━━━━━━━━━━━━━━━━━━━━━</a:t>
            </a:r>
          </a:p>
          <a:p>
            <a:r>
              <a:t>• Revenue: $850,000</a:t>
            </a:r>
          </a:p>
          <a:p>
            <a:r>
              <a:t>• Expenses: $620,000</a:t>
            </a:r>
          </a:p>
          <a:p>
            <a:r>
              <a:t>• Profit: $230,000</a:t>
            </a:r>
          </a:p>
          <a:p>
            <a:r>
              <a:t>• Profit Margin: 27.1%</a:t>
            </a:r>
          </a:p>
          <a:p/>
          <a:p>
            <a:r>
              <a:t>Quarter-over-Quarter Growth:</a:t>
            </a:r>
          </a:p>
          <a:p>
            <a:r>
              <a:t>━━━━━━━━━━━━━━━━━━━━━━━━━━━━━━━━━━━━━</a:t>
            </a:r>
          </a:p>
          <a:p>
            <a:r>
              <a:t>✓ Revenue Growth: +9.0% ($70,000)</a:t>
            </a:r>
          </a:p>
          <a:p>
            <a:r>
              <a:t>✓ Profit Growth: +15.0% ($30,000)</a:t>
            </a:r>
          </a:p>
          <a:p>
            <a:r>
              <a:t>⚠ Expense Increase: +6.9% ($40,000)</a:t>
            </a:r>
          </a:p>
          <a:p>
            <a:r>
              <a:t>✓ Margin Improvement: +1.5 percentage points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KPI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Performance Indicators - Quarterly Analysis:</a:t>
            </a:r>
          </a:p>
          <a:p/>
          <a:p>
            <a:r>
              <a:t>Revenue KPI:</a:t>
            </a:r>
          </a:p>
          <a:p>
            <a:r>
              <a:t>━━━━━━━━━━━━━━━━━━━━━━━━━━━━━━━━━━━━━</a:t>
            </a:r>
          </a:p>
          <a:p>
            <a:r>
              <a:t>• Current Value: $817,060</a:t>
            </a:r>
          </a:p>
          <a:p>
            <a:r>
              <a:t>• Target Value: $877,841</a:t>
            </a:r>
          </a:p>
          <a:p>
            <a:r>
              <a:t>• Performance Ratio: 93.1%</a:t>
            </a:r>
          </a:p>
          <a:p>
            <a:r>
              <a:t>• Status: Below Target</a:t>
            </a:r>
          </a:p>
          <a:p>
            <a:r>
              <a:t>• Trend: ↗ Increasing</a:t>
            </a:r>
          </a:p>
          <a:p/>
          <a:p>
            <a:r>
              <a:t>Profit Margin KPI:</a:t>
            </a:r>
          </a:p>
          <a:p>
            <a:r>
              <a:t>━━━━━━━━━━━━━━━━━━━━━━━━━━━━━━━━━━━━━</a:t>
            </a:r>
          </a:p>
          <a:p>
            <a:r>
              <a:t>• Current Value: 711.7</a:t>
            </a:r>
          </a:p>
          <a:p>
            <a:r>
              <a:t>• Target Value: 828.9</a:t>
            </a:r>
          </a:p>
          <a:p>
            <a:r>
              <a:t>• Performance Ratio: 85.9%</a:t>
            </a:r>
          </a:p>
          <a:p>
            <a:r>
              <a:t>• Status: Below Target</a:t>
            </a:r>
          </a:p>
          <a:p>
            <a:r>
              <a:t>• Trend: ↗ Increasing</a:t>
            </a:r>
          </a:p>
          <a:p/>
          <a:p>
            <a:r>
              <a:t>Analysis: Both metrics show positive trends with room for improvement to reach targets. Revenue gap of 6.9% and profit margin gap of 14.1% require strategic focus.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180-Day Trend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Comprehensive Trend Analysis (6-Month Period):</a:t>
            </a:r>
          </a:p>
          <a:p/>
          <a:p>
            <a:r>
              <a:t>Revenue Trends:</a:t>
            </a:r>
          </a:p>
          <a:p>
            <a:r>
              <a:t>━━━━━━━━━━━━━━━━━━━━━━━━━━━━━━━━━━━━━</a:t>
            </a:r>
          </a:p>
          <a:p>
            <a:r>
              <a:t>• Growth Rate: 1.28%</a:t>
            </a:r>
          </a:p>
          <a:p>
            <a:r>
              <a:t>• Trend Direction: STABLE</a:t>
            </a:r>
          </a:p>
          <a:p>
            <a:r>
              <a:t>• Volatility: 28% (moderate)</a:t>
            </a:r>
          </a:p>
          <a:p>
            <a:r>
              <a:t>• Seasonal Pattern: Not Detected</a:t>
            </a:r>
          </a:p>
          <a:p>
            <a:r>
              <a:t>• Recent Range: $738 - $1,312 daily</a:t>
            </a:r>
          </a:p>
          <a:p/>
          <a:p>
            <a:r>
              <a:t>Profit Trends:</a:t>
            </a:r>
          </a:p>
          <a:p>
            <a:r>
              <a:t>━━━━━━━━━━━━━━━━━━━━━━━━━━━━━━━━━━━━━</a:t>
            </a:r>
          </a:p>
          <a:p>
            <a:r>
              <a:t>• Growth Rate: 0.39%</a:t>
            </a:r>
          </a:p>
          <a:p>
            <a:r>
              <a:t>• Trend Direction: STABLE</a:t>
            </a:r>
          </a:p>
          <a:p>
            <a:r>
              <a:t>• Volatility: 11.8% (low)</a:t>
            </a:r>
          </a:p>
          <a:p>
            <a:r>
              <a:t>• Seasonal Pattern: DETECTED</a:t>
            </a:r>
          </a:p>
          <a:p>
            <a:r>
              <a:t>• Recent Range: $352 - $580 daily</a:t>
            </a:r>
          </a:p>
          <a:p/>
          <a:p>
            <a:r>
              <a:t>Expenses Trends:</a:t>
            </a:r>
          </a:p>
          <a:p>
            <a:r>
              <a:t>━━━━━━━━━━━━━━━━━━━━━━━━━━━━━━━━━━━━━</a:t>
            </a:r>
          </a:p>
          <a:p>
            <a:r>
              <a:t>• Growth Rate: 6.58%</a:t>
            </a:r>
          </a:p>
          <a:p>
            <a:r>
              <a:t>• Trend Direction: ⚠ UPWARD</a:t>
            </a:r>
          </a:p>
          <a:p>
            <a:r>
              <a:t>• Volatility: 17.3% (moderate)</a:t>
            </a:r>
          </a:p>
          <a:p>
            <a:r>
              <a:t>• Seasonal Pattern: DETECTED</a:t>
            </a:r>
          </a:p>
          <a:p>
            <a:r>
              <a:t>• Recent Range: $436 - $708 daily</a:t>
            </a:r>
          </a:p>
          <a:p/>
          <a:p>
            <a:r>
              <a:t>⚠ Key Insight: Expense growth outpacing revenue growth requires cost management attention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Forecast - Next 4 Periods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Projections (Time Series Analysis):</a:t>
            </a:r>
          </a:p>
          <a:p>
            <a:r>
              <a:t>Model Accuracy: 85%</a:t>
            </a:r>
          </a:p>
          <a:p/>
          <a:p>
            <a:r>
              <a:t>Period 1 - November 2025:</a:t>
            </a:r>
          </a:p>
          <a:p>
            <a:r>
              <a:t>• Forecast: $7,442</a:t>
            </a:r>
          </a:p>
          <a:p>
            <a:r>
              <a:t>• Confidence Range: $6,326 - $8,558</a:t>
            </a:r>
          </a:p>
          <a:p>
            <a:r>
              <a:t>• Confidence Level: 83%</a:t>
            </a:r>
          </a:p>
          <a:p/>
          <a:p>
            <a:r>
              <a:t>Period 2 - December 2025:</a:t>
            </a:r>
          </a:p>
          <a:p>
            <a:r>
              <a:t>• Forecast: $8,049</a:t>
            </a:r>
          </a:p>
          <a:p>
            <a:r>
              <a:t>• Confidence Range: $6,842 - $9,256</a:t>
            </a:r>
          </a:p>
          <a:p>
            <a:r>
              <a:t>• Confidence Level: 89%</a:t>
            </a:r>
          </a:p>
          <a:p/>
          <a:p>
            <a:r>
              <a:t>Period 3 - January 2026:</a:t>
            </a:r>
          </a:p>
          <a:p>
            <a:r>
              <a:t>• Forecast: $8,820</a:t>
            </a:r>
          </a:p>
          <a:p>
            <a:r>
              <a:t>• Confidence Range: $7,497 - $10,143</a:t>
            </a:r>
          </a:p>
          <a:p>
            <a:r>
              <a:t>• Confidence Level: 81%</a:t>
            </a:r>
          </a:p>
          <a:p/>
          <a:p>
            <a:r>
              <a:t>Period 4 - February 2026:</a:t>
            </a:r>
          </a:p>
          <a:p>
            <a:r>
              <a:t>• Forecast: $9,658</a:t>
            </a:r>
          </a:p>
          <a:p>
            <a:r>
              <a:t>• Confidence Range: $8,209 - $11,107</a:t>
            </a:r>
          </a:p>
          <a:p>
            <a:r>
              <a:t>• Confidence Level: 85%</a:t>
            </a:r>
          </a:p>
          <a:p/>
          <a:p>
            <a:r>
              <a:t>Projected Growth: 29.8% increase from November to February</a:t>
            </a:r>
          </a:p>
          <a:p>
            <a:r>
              <a:t>Total Expected Revenue (4 months): $33,969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Profit Forecast - Next 4 Periods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Profit Projections (Time Series Analysis):</a:t>
            </a:r>
          </a:p>
          <a:p>
            <a:r>
              <a:t>Model Accuracy: 75%</a:t>
            </a:r>
          </a:p>
          <a:p/>
          <a:p>
            <a:r>
              <a:t>Period 1 - November 2025:</a:t>
            </a:r>
          </a:p>
          <a:p>
            <a:r>
              <a:t>• Forecast: $7,584</a:t>
            </a:r>
          </a:p>
          <a:p>
            <a:r>
              <a:t>• Confidence Range: $6,446 - $8,721</a:t>
            </a:r>
          </a:p>
          <a:p>
            <a:r>
              <a:t>• Confidence Level: 81%</a:t>
            </a:r>
          </a:p>
          <a:p/>
          <a:p>
            <a:r>
              <a:t>Period 2 - December 2025:</a:t>
            </a:r>
          </a:p>
          <a:p>
            <a:r>
              <a:t>• Forecast: $7,595</a:t>
            </a:r>
          </a:p>
          <a:p>
            <a:r>
              <a:t>• Confidence Range: $6,456 - $8,734</a:t>
            </a:r>
          </a:p>
          <a:p>
            <a:r>
              <a:t>• Confidence Level: 91%</a:t>
            </a:r>
          </a:p>
          <a:p/>
          <a:p>
            <a:r>
              <a:t>Period 3 - January 2026:</a:t>
            </a:r>
          </a:p>
          <a:p>
            <a:r>
              <a:t>• Forecast: $7,480</a:t>
            </a:r>
          </a:p>
          <a:p>
            <a:r>
              <a:t>• Confidence Range: $6,358 - $8,603</a:t>
            </a:r>
          </a:p>
          <a:p>
            <a:r>
              <a:t>• Confidence Level: 74%</a:t>
            </a:r>
          </a:p>
          <a:p/>
          <a:p>
            <a:r>
              <a:t>Period 4 - February 2026:</a:t>
            </a:r>
          </a:p>
          <a:p>
            <a:r>
              <a:t>• Forecast: $7,257</a:t>
            </a:r>
          </a:p>
          <a:p>
            <a:r>
              <a:t>• Confidence Range: $6,169 - $8,346</a:t>
            </a:r>
          </a:p>
          <a:p>
            <a:r>
              <a:t>• Confidence Level: 86%</a:t>
            </a:r>
          </a:p>
          <a:p/>
          <a:p>
            <a:r>
              <a:t>Trend: Relatively stable profit levels with slight decline</a:t>
            </a:r>
          </a:p>
          <a:p>
            <a:r>
              <a:t>Total Expected Profit (4 months): $29,916</a:t>
            </a:r>
          </a:p>
          <a:p>
            <a:r>
              <a:t>Average Monthly Profit: $7,479</a:t>
            </a:r>
          </a:p>
          <a:p/>
          <a:p>
            <a:r>
              <a:t>⚠ Note: Lower model accuracy suggests higher uncertainty in profit forecasting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Benchmark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Competitive Performance Assessment:</a:t>
            </a:r>
          </a:p>
          <a:p/>
          <a:p>
            <a:r>
              <a:t>Overall Position: AVERAGE</a:t>
            </a:r>
          </a:p>
          <a:p>
            <a:r>
              <a:t>Overall Percentile Rank: 62.1%</a:t>
            </a:r>
          </a:p>
          <a:p/>
          <a:p>
            <a:r>
              <a:t>Revenue Benchmark:</a:t>
            </a:r>
          </a:p>
          <a:p>
            <a:r>
              <a:t>━━━━━━━━━━━━━━━━━━━━━━━━━━━━━━━━━━━━━</a:t>
            </a:r>
          </a:p>
          <a:p>
            <a:r>
              <a:t>• Our Performance: 60.3</a:t>
            </a:r>
          </a:p>
          <a:p>
            <a:r>
              <a:t>• Industry Average: 78.6</a:t>
            </a:r>
          </a:p>
          <a:p>
            <a:r>
              <a:t>• Top Quartile: 96.3</a:t>
            </a:r>
          </a:p>
          <a:p>
            <a:r>
              <a:t>• Percentile Rank: 63.1%</a:t>
            </a:r>
          </a:p>
          <a:p>
            <a:r>
              <a:t>• Gap to Leader: 36.0 points</a:t>
            </a:r>
          </a:p>
          <a:p>
            <a:r>
              <a:t>• Recommendation: ⚠ IMPROVEMENT NEEDED</a:t>
            </a:r>
          </a:p>
          <a:p/>
          <a:p>
            <a:r>
              <a:t>Profit Margin Benchmark:</a:t>
            </a:r>
          </a:p>
          <a:p>
            <a:r>
              <a:t>━━━━━━━━━━━━━━━━━━━━━━━━━━━━━━━━━━━━━</a:t>
            </a:r>
          </a:p>
          <a:p>
            <a:r>
              <a:t>• Our Performance: 86.8</a:t>
            </a:r>
          </a:p>
          <a:p>
            <a:r>
              <a:t>• Industry Average: 73.9</a:t>
            </a:r>
          </a:p>
          <a:p>
            <a:r>
              <a:t>• Top Quartile: 88.7</a:t>
            </a:r>
          </a:p>
          <a:p>
            <a:r>
              <a:t>• Percentile Rank: 34.9%</a:t>
            </a:r>
          </a:p>
          <a:p>
            <a:r>
              <a:t>• Gap to Leader: 1.9 points</a:t>
            </a:r>
          </a:p>
          <a:p>
            <a:r>
              <a:t>• Recommendation: ✓ MAINTAIN PERFORMANCE</a:t>
            </a:r>
          </a:p>
          <a:p/>
          <a:p>
            <a:r>
              <a:t>Customer Acquisition Cost:</a:t>
            </a:r>
          </a:p>
          <a:p>
            <a:r>
              <a:t>━━━━━━━━━━━━━━━━━━━━━━━━━━━━━━━━━━━━━</a:t>
            </a:r>
          </a:p>
          <a:p>
            <a:r>
              <a:t>• Our Performance: 71.5</a:t>
            </a:r>
          </a:p>
          <a:p>
            <a:r>
              <a:t>• Industry Average: 74.7</a:t>
            </a:r>
          </a:p>
          <a:p>
            <a:r>
              <a:t>• Top Quartile: 89.8</a:t>
            </a:r>
          </a:p>
          <a:p>
            <a:r>
              <a:t>• Percentile Rank: 88.4%</a:t>
            </a:r>
          </a:p>
          <a:p>
            <a:r>
              <a:t>• Gap to Leader: 18.3 points</a:t>
            </a:r>
          </a:p>
          <a:p>
            <a:r>
              <a:t>• Recommendation: ⚠ IMPROVEMENT NEEDED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Actions for Q4 and Beyond:</a:t>
            </a:r>
          </a:p>
          <a:p/>
          <a:p>
            <a:r>
              <a:t>Revenue Growth Initiatives:</a:t>
            </a:r>
          </a:p>
          <a:p>
            <a:r>
              <a:t>━━━━━━━━━━━━━━━━━━━━━━━━━━━━━━━━━━━━━</a:t>
            </a:r>
          </a:p>
          <a:p>
            <a:r>
              <a:t>• Close 6.9% gap to quarterly revenue target</a:t>
            </a:r>
          </a:p>
          <a:p>
            <a:r>
              <a:t>• Address 36-point gap to industry leaders</a:t>
            </a:r>
          </a:p>
          <a:p>
            <a:r>
              <a:t>• Leverage positive Q2-Q3 growth momentum (+9.0%)</a:t>
            </a:r>
          </a:p>
          <a:p>
            <a:r>
              <a:t>• Focus on consistent daily revenue stabilization</a:t>
            </a:r>
          </a:p>
          <a:p/>
          <a:p>
            <a:r>
              <a:t>Cost Management:</a:t>
            </a:r>
          </a:p>
          <a:p>
            <a:r>
              <a:t>━━━━━━━━━━━━━━━━━━━━━━━━━━━━━━━━━━━━━</a:t>
            </a:r>
          </a:p>
          <a:p>
            <a:r>
              <a:t>• Address 6.58% expense growth trend (exceeds revenue growth)</a:t>
            </a:r>
          </a:p>
          <a:p>
            <a:r>
              <a:t>• Implement cost control measures to improve profit margins</a:t>
            </a:r>
          </a:p>
          <a:p>
            <a:r>
              <a:t>• Reduce expense volatility (currently at 17.3%)</a:t>
            </a:r>
          </a:p>
          <a:p/>
          <a:p>
            <a:r>
              <a:t>Customer Excellence:</a:t>
            </a:r>
          </a:p>
          <a:p>
            <a:r>
              <a:t>━━━━━━━━━━━━━━━━━━━━━━━━━━━━━━━━━━━━━</a:t>
            </a:r>
          </a:p>
          <a:p>
            <a:r>
              <a:t>• Urgent: Address customer satisfaction below threshold</a:t>
            </a:r>
          </a:p>
          <a:p>
            <a:r>
              <a:t>• Improve Customer Acquisition Cost by 18.3 points</a:t>
            </a:r>
          </a:p>
          <a:p>
            <a:r>
              <a:t>• Strengthen market share position (currently declining)</a:t>
            </a:r>
          </a:p>
          <a:p/>
          <a:p>
            <a:r>
              <a:t>Operational Focus:</a:t>
            </a:r>
          </a:p>
          <a:p>
            <a:r>
              <a:t>━━━━━━━━━━━━━━━━━━━━━━━━━━━━━━━━━━━━━</a:t>
            </a:r>
          </a:p>
          <a:p>
            <a:r>
              <a:t>• Maintain strong profit margin performance (above industry avg)</a:t>
            </a:r>
          </a:p>
          <a:p>
            <a:r>
              <a:t>• Improve employee satisfaction (currently declining)</a:t>
            </a:r>
          </a:p>
          <a:p>
            <a:r>
              <a:t>• Capitalize on detected seasonal patterns in profit and expenses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Summary:</a:t>
            </a:r>
          </a:p>
          <a:p/>
          <a:p>
            <a:r>
              <a:t>Strengths:</a:t>
            </a:r>
          </a:p>
          <a:p>
            <a:r>
              <a:t>✓ Positive Q2-Q3 growth in revenue (+9%) and profit (+15%)</a:t>
            </a:r>
          </a:p>
          <a:p>
            <a:r>
              <a:t>✓ Profit margins above industry average</a:t>
            </a:r>
          </a:p>
          <a:p>
            <a:r>
              <a:t>✓ Strong profit margin improvement (+1.5 pp)</a:t>
            </a:r>
          </a:p>
          <a:p>
            <a:r>
              <a:t>✓ Increasing revenue and profit margin KPI trends</a:t>
            </a:r>
          </a:p>
          <a:p/>
          <a:p>
            <a:r>
              <a:t>Challenges:</a:t>
            </a:r>
          </a:p>
          <a:p>
            <a:r>
              <a:t>⚠ Customer satisfaction below threshold</a:t>
            </a:r>
          </a:p>
          <a:p>
            <a:r>
              <a:t>⚠ Expense growth (6.58%) outpacing revenue growth (1.28%)</a:t>
            </a:r>
          </a:p>
          <a:p>
            <a:r>
              <a:t>⚠ Revenue 6.9% below quarterly target</a:t>
            </a:r>
          </a:p>
          <a:p>
            <a:r>
              <a:t>⚠ Declining market share and employee satisfaction</a:t>
            </a:r>
          </a:p>
          <a:p/>
          <a:p>
            <a:r>
              <a:t>Opportunities:</a:t>
            </a:r>
          </a:p>
          <a:p>
            <a:r>
              <a:t>• Forecasted revenue growth of 29.8% over next 4 months</a:t>
            </a:r>
          </a:p>
          <a:p>
            <a:r>
              <a:t>• Strong profit stability with low volatility</a:t>
            </a:r>
          </a:p>
          <a:p>
            <a:r>
              <a:t>• Above-average profit margin performance vs. industry</a:t>
            </a:r>
          </a:p>
          <a:p/>
          <a:p>
            <a:r>
              <a:t>Immediate Actions Required:</a:t>
            </a:r>
          </a:p>
          <a:p>
            <a:r>
              <a:t>1. Implement customer satisfaction improvement program</a:t>
            </a:r>
          </a:p>
          <a:p>
            <a:r>
              <a:t>2. Execute cost control initiatives to manage expense growth</a:t>
            </a:r>
          </a:p>
          <a:p>
            <a:r>
              <a:t>3. Deploy revenue acceleration strategies to close target gap</a:t>
            </a:r>
          </a:p>
          <a:p>
            <a:r>
              <a:t>4. Address employee satisfaction decline</a:t>
            </a:r>
          </a:p>
          <a:p>
            <a:r>
              <a:t>5. Monitor and capitalize on seasonal patterns</a:t>
            </a:r>
          </a:p>
          <a:p/>
          <a:p>
            <a:r>
              <a:t>Dashboard Generated: October 17,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